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kernel tests only confirm that values are stored and returned. They cannot see whether the scheduler actually rotates, preempts or honours affinity. The new scenario tests apply real CPU load and judge the observed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scenarios in four groups share one measurement harness. A background monitor watches for tasks stuck waiting. Everything sits above the kernel; the scheduler itself is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scenario applies a controlled load, discards warm-up, measures, cleans up, then gives a verdict. Impact: early detection of SMP hang and deadlock bugs with zero product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Why SMP Scheduler Scenario Tests</a:t>
            </a:r>
            <a:endParaRPr lang="en-US" sz="2600" dirty="0"/>
          </a:p>
        </p:txBody>
      </p:sp>
      <p:sp>
        <p:nvSpPr>
          <p:cNvPr id="3" name="Text 1"/>
          <p:cNvSpPr txBox="1"/>
          <p:nvPr/>
        </p:nvSpPr>
        <p:spPr>
          <a:xfrm>
            <a:off x="457200" y="731520"/>
            <a:ext cx="82296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TizenRT PR #7499  ·  Test code only  ·  Merged to master</a:t>
            </a:r>
            <a:endParaRPr lang="en-US" sz="1200" dirty="0"/>
          </a:p>
        </p:txBody>
      </p:sp>
      <p:sp>
        <p:nvSpPr>
          <p:cNvPr id="4" name="Shape 2"/>
          <p:cNvSpPr/>
          <p:nvPr/>
        </p:nvSpPr>
        <p:spPr>
          <a:xfrm>
            <a:off x="457200" y="1234440"/>
            <a:ext cx="2651760" cy="3474720"/>
          </a:xfrm>
          <a:prstGeom prst="roundRect">
            <a:avLst>
              <a:gd name="adj" fmla="val 2759"/>
            </a:avLst>
          </a:prstGeom>
          <a:solidFill>
            <a:srgbClr val="EEF2F6"/>
          </a:solidFill>
          <a:ln w="12700">
            <a:solidFill>
              <a:srgbClr val="EEF2F6"/>
            </a:solidFill>
            <a:prstDash val="solid"/>
          </a:ln>
        </p:spPr>
      </p:sp>
      <p:sp>
        <p:nvSpPr>
          <p:cNvPr id="5" name="Text 3"/>
          <p:cNvSpPr txBox="1"/>
          <p:nvPr/>
        </p:nvSpPr>
        <p:spPr>
          <a:xfrm>
            <a:off x="640080" y="1371600"/>
            <a:ext cx="4114800" cy="274320"/>
          </a:xfrm>
          <a:prstGeom prst="rect">
            <a:avLst/>
          </a:prstGeom>
          <a:noFill/>
          <a:ln/>
        </p:spPr>
        <p:txBody>
          <a:bodyPr wrap="square" lIns="0" tIns="0" rIns="0" bIns="0" rtlCol="0" anchor="ctr"/>
          <a:lstStyle/>
          <a:p>
            <a:pPr indent="0" marL="0">
              <a:buNone/>
            </a:pPr>
            <a:r>
              <a:rPr lang="en-US" sz="1200" b="1" spc="200" kern="0" dirty="0">
                <a:solidFill>
                  <a:srgbClr val="D1495B"/>
                </a:solidFill>
                <a:latin typeface="Calibri" pitchFamily="34" charset="0"/>
                <a:ea typeface="Calibri" pitchFamily="34" charset="-122"/>
                <a:cs typeface="Calibri" pitchFamily="34" charset="-120"/>
              </a:rPr>
              <a:t>BACKGROUND</a:t>
            </a:r>
            <a:endParaRPr lang="en-US" sz="1200" dirty="0"/>
          </a:p>
        </p:txBody>
      </p:sp>
      <p:sp>
        <p:nvSpPr>
          <p:cNvPr id="6" name="Text 4"/>
          <p:cNvSpPr txBox="1"/>
          <p:nvPr/>
        </p:nvSpPr>
        <p:spPr>
          <a:xfrm>
            <a:off x="640080" y="1737360"/>
            <a:ext cx="2331720" cy="2011680"/>
          </a:xfrm>
          <a:prstGeom prst="rect">
            <a:avLst/>
          </a:prstGeom>
          <a:noFill/>
          <a:ln/>
        </p:spPr>
        <p:txBody>
          <a:bodyPr wrap="square" lIns="0" tIns="0" rIns="0" bIns="0" rtlCol="0" anchor="t"/>
          <a:lstStyle/>
          <a:p>
            <a:pPr marL="152400" indent="-1524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Dual-core boards show hangs and deadlocks.</a:t>
            </a:r>
            <a:endParaRPr lang="en-US" sz="1300" dirty="0"/>
          </a:p>
          <a:p>
            <a:pPr marL="152400" indent="-1524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Root cause is often the scheduler.</a:t>
            </a:r>
            <a:endParaRPr lang="en-US" sz="1300" dirty="0"/>
          </a:p>
          <a:p>
            <a:pPr marL="152400" indent="-1524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Current tests check APIs only.</a:t>
            </a:r>
            <a:endParaRPr lang="en-US" sz="1300" dirty="0"/>
          </a:p>
          <a:p>
            <a:pPr marL="152400" indent="-1524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A broken scheduler still passes them.</a:t>
            </a:r>
            <a:endParaRPr lang="en-US" sz="1300" dirty="0"/>
          </a:p>
        </p:txBody>
      </p:sp>
      <p:sp>
        <p:nvSpPr>
          <p:cNvPr id="7" name="Text 5"/>
          <p:cNvSpPr txBox="1"/>
          <p:nvPr/>
        </p:nvSpPr>
        <p:spPr>
          <a:xfrm>
            <a:off x="640080" y="3977640"/>
            <a:ext cx="2331720" cy="548640"/>
          </a:xfrm>
          <a:prstGeom prst="rect">
            <a:avLst/>
          </a:prstGeom>
          <a:noFill/>
          <a:ln/>
        </p:spPr>
        <p:txBody>
          <a:bodyPr wrap="square" lIns="0" tIns="0" rIns="0" bIns="0" rtlCol="0" anchor="t"/>
          <a:lstStyle/>
          <a:p>
            <a:pPr indent="0" marL="0">
              <a:buNone/>
            </a:pPr>
            <a:r>
              <a:rPr lang="en-US" sz="1100" i="1" dirty="0">
                <a:solidFill>
                  <a:srgbClr val="14213D"/>
                </a:solidFill>
                <a:latin typeface="Calibri" pitchFamily="34" charset="0"/>
                <a:ea typeface="Calibri" pitchFamily="34" charset="-122"/>
                <a:cs typeface="Calibri" pitchFamily="34" charset="-120"/>
              </a:rPr>
              <a:t>Field hangs are slow and costly to debug.</a:t>
            </a:r>
            <a:endParaRPr lang="en-US" sz="1100" dirty="0"/>
          </a:p>
        </p:txBody>
      </p:sp>
      <p:sp>
        <p:nvSpPr>
          <p:cNvPr id="8" name="Text 6"/>
          <p:cNvSpPr txBox="1"/>
          <p:nvPr/>
        </p:nvSpPr>
        <p:spPr>
          <a:xfrm>
            <a:off x="3383280" y="1234440"/>
            <a:ext cx="4114800" cy="274320"/>
          </a:xfrm>
          <a:prstGeom prst="rect">
            <a:avLst/>
          </a:prstGeom>
          <a:noFill/>
          <a:ln/>
        </p:spPr>
        <p:txBody>
          <a:bodyPr wrap="square" lIns="0" tIns="0" rIns="0" bIns="0" rtlCol="0" anchor="ctr"/>
          <a:lstStyle/>
          <a:p>
            <a:pPr indent="0" marL="0">
              <a:buNone/>
            </a:pPr>
            <a:r>
              <a:rPr lang="en-US" sz="1200" b="1" spc="200" kern="0" dirty="0">
                <a:solidFill>
                  <a:srgbClr val="0E9F9A"/>
                </a:solidFill>
                <a:latin typeface="Calibri" pitchFamily="34" charset="0"/>
                <a:ea typeface="Calibri" pitchFamily="34" charset="-122"/>
                <a:cs typeface="Calibri" pitchFamily="34" charset="-120"/>
              </a:rPr>
              <a:t>TODAY vs NEW APPROACH</a:t>
            </a:r>
            <a:endParaRPr lang="en-US" sz="1200" dirty="0"/>
          </a:p>
        </p:txBody>
      </p:sp>
      <p:sp>
        <p:nvSpPr>
          <p:cNvPr id="9" name="Text 7"/>
          <p:cNvSpPr txBox="1"/>
          <p:nvPr/>
        </p:nvSpPr>
        <p:spPr>
          <a:xfrm>
            <a:off x="3383280" y="1645920"/>
            <a:ext cx="530352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Today: API tests</a:t>
            </a:r>
            <a:endParaRPr lang="en-US" sz="1300" dirty="0"/>
          </a:p>
        </p:txBody>
      </p:sp>
      <p:sp>
        <p:nvSpPr>
          <p:cNvPr id="10" name="Shape 8"/>
          <p:cNvSpPr/>
          <p:nvPr/>
        </p:nvSpPr>
        <p:spPr>
          <a:xfrm>
            <a:off x="3383280" y="1993392"/>
            <a:ext cx="1508760" cy="502920"/>
          </a:xfrm>
          <a:prstGeom prst="roundRect">
            <a:avLst>
              <a:gd name="adj" fmla="val 14545"/>
            </a:avLst>
          </a:prstGeom>
          <a:solidFill>
            <a:srgbClr val="C9D1DB"/>
          </a:solidFill>
          <a:ln w="12700">
            <a:solidFill>
              <a:srgbClr val="C9D1DB"/>
            </a:solidFill>
            <a:prstDash val="solid"/>
          </a:ln>
        </p:spPr>
      </p:sp>
      <p:sp>
        <p:nvSpPr>
          <p:cNvPr id="11" name="Text 9"/>
          <p:cNvSpPr txBox="1"/>
          <p:nvPr/>
        </p:nvSpPr>
        <p:spPr>
          <a:xfrm>
            <a:off x="3383280" y="1993392"/>
            <a:ext cx="1508760" cy="50292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Set a value</a:t>
            </a:r>
            <a:endParaRPr lang="en-US" sz="1100" dirty="0"/>
          </a:p>
        </p:txBody>
      </p:sp>
      <p:sp>
        <p:nvSpPr>
          <p:cNvPr id="12" name="Shape 10"/>
          <p:cNvSpPr/>
          <p:nvPr/>
        </p:nvSpPr>
        <p:spPr>
          <a:xfrm>
            <a:off x="4919472" y="2244852"/>
            <a:ext cx="265176" cy="0"/>
          </a:xfrm>
          <a:prstGeom prst="line">
            <a:avLst/>
          </a:prstGeom>
          <a:noFill/>
          <a:ln w="19050">
            <a:solidFill>
              <a:srgbClr val="6B7280"/>
            </a:solidFill>
            <a:prstDash val="solid"/>
            <a:tailEnd type="triangle"/>
          </a:ln>
        </p:spPr>
      </p:sp>
      <p:sp>
        <p:nvSpPr>
          <p:cNvPr id="13" name="Shape 11"/>
          <p:cNvSpPr/>
          <p:nvPr/>
        </p:nvSpPr>
        <p:spPr>
          <a:xfrm>
            <a:off x="5212080" y="1993392"/>
            <a:ext cx="1508760" cy="502920"/>
          </a:xfrm>
          <a:prstGeom prst="roundRect">
            <a:avLst>
              <a:gd name="adj" fmla="val 14545"/>
            </a:avLst>
          </a:prstGeom>
          <a:solidFill>
            <a:srgbClr val="C9D1DB"/>
          </a:solidFill>
          <a:ln w="12700">
            <a:solidFill>
              <a:srgbClr val="C9D1DB"/>
            </a:solidFill>
            <a:prstDash val="solid"/>
          </a:ln>
        </p:spPr>
      </p:sp>
      <p:sp>
        <p:nvSpPr>
          <p:cNvPr id="14" name="Text 12"/>
          <p:cNvSpPr txBox="1"/>
          <p:nvPr/>
        </p:nvSpPr>
        <p:spPr>
          <a:xfrm>
            <a:off x="5212080" y="1993392"/>
            <a:ext cx="1508760" cy="50292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Read it back</a:t>
            </a:r>
            <a:endParaRPr lang="en-US" sz="1100" dirty="0"/>
          </a:p>
        </p:txBody>
      </p:sp>
      <p:sp>
        <p:nvSpPr>
          <p:cNvPr id="15" name="Shape 13"/>
          <p:cNvSpPr/>
          <p:nvPr/>
        </p:nvSpPr>
        <p:spPr>
          <a:xfrm>
            <a:off x="6748272" y="2244852"/>
            <a:ext cx="265176" cy="0"/>
          </a:xfrm>
          <a:prstGeom prst="line">
            <a:avLst/>
          </a:prstGeom>
          <a:noFill/>
          <a:ln w="19050">
            <a:solidFill>
              <a:srgbClr val="6B7280"/>
            </a:solidFill>
            <a:prstDash val="solid"/>
            <a:tailEnd type="triangle"/>
          </a:ln>
        </p:spPr>
      </p:sp>
      <p:sp>
        <p:nvSpPr>
          <p:cNvPr id="16" name="Shape 14"/>
          <p:cNvSpPr/>
          <p:nvPr/>
        </p:nvSpPr>
        <p:spPr>
          <a:xfrm>
            <a:off x="7040880" y="1993392"/>
            <a:ext cx="1508760" cy="502920"/>
          </a:xfrm>
          <a:prstGeom prst="roundRect">
            <a:avLst>
              <a:gd name="adj" fmla="val 14545"/>
            </a:avLst>
          </a:prstGeom>
          <a:solidFill>
            <a:srgbClr val="C9D1DB"/>
          </a:solidFill>
          <a:ln w="12700">
            <a:solidFill>
              <a:srgbClr val="C9D1DB"/>
            </a:solidFill>
            <a:prstDash val="solid"/>
          </a:ln>
        </p:spPr>
      </p:sp>
      <p:sp>
        <p:nvSpPr>
          <p:cNvPr id="17" name="Text 15"/>
          <p:cNvSpPr txBox="1"/>
          <p:nvPr/>
        </p:nvSpPr>
        <p:spPr>
          <a:xfrm>
            <a:off x="7040880" y="1993392"/>
            <a:ext cx="1508760" cy="50292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PASS</a:t>
            </a:r>
            <a:endParaRPr lang="en-US" sz="1100" dirty="0"/>
          </a:p>
        </p:txBody>
      </p:sp>
      <p:sp>
        <p:nvSpPr>
          <p:cNvPr id="18" name="Text 16"/>
          <p:cNvSpPr txBox="1"/>
          <p:nvPr/>
        </p:nvSpPr>
        <p:spPr>
          <a:xfrm>
            <a:off x="3383280" y="2560320"/>
            <a:ext cx="5303520" cy="256032"/>
          </a:xfrm>
          <a:prstGeom prst="rect">
            <a:avLst/>
          </a:prstGeom>
          <a:noFill/>
          <a:ln/>
        </p:spPr>
        <p:txBody>
          <a:bodyPr wrap="square" lIns="0" tIns="0" rIns="0" bIns="0" rtlCol="0" anchor="ctr"/>
          <a:lstStyle/>
          <a:p>
            <a:pPr indent="0" marL="0">
              <a:buNone/>
            </a:pPr>
            <a:r>
              <a:rPr lang="en-US" sz="1100" i="1" dirty="0">
                <a:solidFill>
                  <a:srgbClr val="D1495B"/>
                </a:solidFill>
                <a:latin typeface="Calibri" pitchFamily="34" charset="0"/>
                <a:ea typeface="Calibri" pitchFamily="34" charset="-122"/>
                <a:cs typeface="Calibri" pitchFamily="34" charset="-120"/>
              </a:rPr>
              <a:t>Passes even if the scheduler is broken.</a:t>
            </a:r>
            <a:endParaRPr lang="en-US" sz="1100" dirty="0"/>
          </a:p>
        </p:txBody>
      </p:sp>
      <p:sp>
        <p:nvSpPr>
          <p:cNvPr id="19" name="Text 17"/>
          <p:cNvSpPr txBox="1"/>
          <p:nvPr/>
        </p:nvSpPr>
        <p:spPr>
          <a:xfrm>
            <a:off x="3383280" y="3063240"/>
            <a:ext cx="5303520" cy="27432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New: Scenario tests</a:t>
            </a:r>
            <a:endParaRPr lang="en-US" sz="1300" dirty="0"/>
          </a:p>
        </p:txBody>
      </p:sp>
      <p:sp>
        <p:nvSpPr>
          <p:cNvPr id="20" name="Shape 18"/>
          <p:cNvSpPr/>
          <p:nvPr/>
        </p:nvSpPr>
        <p:spPr>
          <a:xfrm>
            <a:off x="3383280" y="3410712"/>
            <a:ext cx="1508760" cy="502920"/>
          </a:xfrm>
          <a:prstGeom prst="roundRect">
            <a:avLst>
              <a:gd name="adj" fmla="val 14545"/>
            </a:avLst>
          </a:prstGeom>
          <a:solidFill>
            <a:srgbClr val="0E9F9A"/>
          </a:solidFill>
          <a:ln w="12700">
            <a:solidFill>
              <a:srgbClr val="0E9F9A"/>
            </a:solidFill>
            <a:prstDash val="solid"/>
          </a:ln>
        </p:spPr>
      </p:sp>
      <p:sp>
        <p:nvSpPr>
          <p:cNvPr id="21" name="Text 19"/>
          <p:cNvSpPr txBox="1"/>
          <p:nvPr/>
        </p:nvSpPr>
        <p:spPr>
          <a:xfrm>
            <a:off x="3383280" y="3410712"/>
            <a:ext cx="15087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Apply real load</a:t>
            </a:r>
            <a:endParaRPr lang="en-US" sz="1100" dirty="0"/>
          </a:p>
        </p:txBody>
      </p:sp>
      <p:sp>
        <p:nvSpPr>
          <p:cNvPr id="22" name="Shape 20"/>
          <p:cNvSpPr/>
          <p:nvPr/>
        </p:nvSpPr>
        <p:spPr>
          <a:xfrm>
            <a:off x="4919472" y="3662172"/>
            <a:ext cx="265176" cy="0"/>
          </a:xfrm>
          <a:prstGeom prst="line">
            <a:avLst/>
          </a:prstGeom>
          <a:noFill/>
          <a:ln w="19050">
            <a:solidFill>
              <a:srgbClr val="6B7280"/>
            </a:solidFill>
            <a:prstDash val="solid"/>
            <a:tailEnd type="triangle"/>
          </a:ln>
        </p:spPr>
      </p:sp>
      <p:sp>
        <p:nvSpPr>
          <p:cNvPr id="23" name="Shape 21"/>
          <p:cNvSpPr/>
          <p:nvPr/>
        </p:nvSpPr>
        <p:spPr>
          <a:xfrm>
            <a:off x="5212080" y="3410712"/>
            <a:ext cx="1508760" cy="502920"/>
          </a:xfrm>
          <a:prstGeom prst="roundRect">
            <a:avLst>
              <a:gd name="adj" fmla="val 14545"/>
            </a:avLst>
          </a:prstGeom>
          <a:solidFill>
            <a:srgbClr val="0E9F9A"/>
          </a:solidFill>
          <a:ln w="12700">
            <a:solidFill>
              <a:srgbClr val="0E9F9A"/>
            </a:solidFill>
            <a:prstDash val="solid"/>
          </a:ln>
        </p:spPr>
      </p:sp>
      <p:sp>
        <p:nvSpPr>
          <p:cNvPr id="24" name="Text 22"/>
          <p:cNvSpPr txBox="1"/>
          <p:nvPr/>
        </p:nvSpPr>
        <p:spPr>
          <a:xfrm>
            <a:off x="5212080" y="3410712"/>
            <a:ext cx="15087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Observe behavior</a:t>
            </a:r>
            <a:endParaRPr lang="en-US" sz="1100" dirty="0"/>
          </a:p>
        </p:txBody>
      </p:sp>
      <p:sp>
        <p:nvSpPr>
          <p:cNvPr id="25" name="Shape 23"/>
          <p:cNvSpPr/>
          <p:nvPr/>
        </p:nvSpPr>
        <p:spPr>
          <a:xfrm>
            <a:off x="6748272" y="3662172"/>
            <a:ext cx="265176" cy="0"/>
          </a:xfrm>
          <a:prstGeom prst="line">
            <a:avLst/>
          </a:prstGeom>
          <a:noFill/>
          <a:ln w="19050">
            <a:solidFill>
              <a:srgbClr val="6B7280"/>
            </a:solidFill>
            <a:prstDash val="solid"/>
            <a:tailEnd type="triangle"/>
          </a:ln>
        </p:spPr>
      </p:sp>
      <p:sp>
        <p:nvSpPr>
          <p:cNvPr id="26" name="Shape 24"/>
          <p:cNvSpPr/>
          <p:nvPr/>
        </p:nvSpPr>
        <p:spPr>
          <a:xfrm>
            <a:off x="7040880" y="3410712"/>
            <a:ext cx="1508760" cy="502920"/>
          </a:xfrm>
          <a:prstGeom prst="roundRect">
            <a:avLst>
              <a:gd name="adj" fmla="val 14545"/>
            </a:avLst>
          </a:prstGeom>
          <a:solidFill>
            <a:srgbClr val="F4A259"/>
          </a:solidFill>
          <a:ln w="12700">
            <a:solidFill>
              <a:srgbClr val="F4A259"/>
            </a:solidFill>
            <a:prstDash val="solid"/>
          </a:ln>
        </p:spPr>
      </p:sp>
      <p:sp>
        <p:nvSpPr>
          <p:cNvPr id="27" name="Text 25"/>
          <p:cNvSpPr txBox="1"/>
          <p:nvPr/>
        </p:nvSpPr>
        <p:spPr>
          <a:xfrm>
            <a:off x="7040880" y="3410712"/>
            <a:ext cx="1508760" cy="50292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PASS / FAIL</a:t>
            </a:r>
            <a:endParaRPr lang="en-US" sz="1100" dirty="0"/>
          </a:p>
        </p:txBody>
      </p:sp>
      <p:sp>
        <p:nvSpPr>
          <p:cNvPr id="28" name="Text 26"/>
          <p:cNvSpPr txBox="1"/>
          <p:nvPr/>
        </p:nvSpPr>
        <p:spPr>
          <a:xfrm>
            <a:off x="3383280" y="3977640"/>
            <a:ext cx="5303520" cy="256032"/>
          </a:xfrm>
          <a:prstGeom prst="rect">
            <a:avLst/>
          </a:prstGeom>
          <a:noFill/>
          <a:ln/>
        </p:spPr>
        <p:txBody>
          <a:bodyPr wrap="square" lIns="0" tIns="0" rIns="0" bIns="0" rtlCol="0" anchor="ctr"/>
          <a:lstStyle/>
          <a:p>
            <a:pPr indent="0" marL="0">
              <a:buNone/>
            </a:pPr>
            <a:r>
              <a:rPr lang="en-US" sz="1100" i="1" dirty="0">
                <a:solidFill>
                  <a:srgbClr val="0E9F9A"/>
                </a:solidFill>
                <a:latin typeface="Calibri" pitchFamily="34" charset="0"/>
                <a:ea typeface="Calibri" pitchFamily="34" charset="-122"/>
                <a:cs typeface="Calibri" pitchFamily="34" charset="-120"/>
              </a:rPr>
              <a:t>Fails when the scheduler misbehaves.</a:t>
            </a:r>
            <a:endParaRPr lang="en-US" sz="1100" dirty="0"/>
          </a:p>
        </p:txBody>
      </p:sp>
      <p:sp>
        <p:nvSpPr>
          <p:cNvPr id="29" name="Text 27"/>
          <p:cNvSpPr txBox="1"/>
          <p:nvPr/>
        </p:nvSpPr>
        <p:spPr>
          <a:xfrm>
            <a:off x="3383280" y="4434840"/>
            <a:ext cx="530352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Goal: prove the scheduler behaves correctly under real load.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Solution: What We Added</a:t>
            </a:r>
            <a:endParaRPr lang="en-US" sz="2600" dirty="0"/>
          </a:p>
        </p:txBody>
      </p:sp>
      <p:sp>
        <p:nvSpPr>
          <p:cNvPr id="3" name="Text 1"/>
          <p:cNvSpPr txBox="1"/>
          <p:nvPr/>
        </p:nvSpPr>
        <p:spPr>
          <a:xfrm>
            <a:off x="457200" y="731520"/>
            <a:ext cx="82296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new test layer on top of the existing kernel. No kernel code changed.</a:t>
            </a:r>
            <a:endParaRPr lang="en-US" sz="1200" dirty="0"/>
          </a:p>
        </p:txBody>
      </p:sp>
      <p:sp>
        <p:nvSpPr>
          <p:cNvPr id="4" name="Shape 2"/>
          <p:cNvSpPr/>
          <p:nvPr/>
        </p:nvSpPr>
        <p:spPr>
          <a:xfrm>
            <a:off x="457200" y="1298448"/>
            <a:ext cx="164592" cy="146304"/>
          </a:xfrm>
          <a:prstGeom prst="roundRect">
            <a:avLst>
              <a:gd name="adj" fmla="val 50000"/>
            </a:avLst>
          </a:prstGeom>
          <a:solidFill>
            <a:srgbClr val="0E9F9A"/>
          </a:solidFill>
          <a:ln w="12700">
            <a:solidFill>
              <a:srgbClr val="0E9F9A"/>
            </a:solidFill>
            <a:prstDash val="solid"/>
          </a:ln>
        </p:spPr>
      </p:sp>
      <p:sp>
        <p:nvSpPr>
          <p:cNvPr id="5" name="Text 3"/>
          <p:cNvSpPr txBox="1"/>
          <p:nvPr/>
        </p:nvSpPr>
        <p:spPr>
          <a:xfrm>
            <a:off x="667512" y="1261872"/>
            <a:ext cx="45720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New</a:t>
            </a:r>
            <a:endParaRPr lang="en-US" sz="1000" dirty="0"/>
          </a:p>
        </p:txBody>
      </p:sp>
      <p:sp>
        <p:nvSpPr>
          <p:cNvPr id="6" name="Shape 4"/>
          <p:cNvSpPr/>
          <p:nvPr/>
        </p:nvSpPr>
        <p:spPr>
          <a:xfrm>
            <a:off x="1234440" y="1298448"/>
            <a:ext cx="164592" cy="146304"/>
          </a:xfrm>
          <a:prstGeom prst="roundRect">
            <a:avLst>
              <a:gd name="adj" fmla="val 50000"/>
            </a:avLst>
          </a:prstGeom>
          <a:solidFill>
            <a:srgbClr val="C9D1DB"/>
          </a:solidFill>
          <a:ln w="12700">
            <a:solidFill>
              <a:srgbClr val="C9D1DB"/>
            </a:solidFill>
            <a:prstDash val="solid"/>
          </a:ln>
        </p:spPr>
      </p:sp>
      <p:sp>
        <p:nvSpPr>
          <p:cNvPr id="7" name="Text 5"/>
          <p:cNvSpPr txBox="1"/>
          <p:nvPr/>
        </p:nvSpPr>
        <p:spPr>
          <a:xfrm>
            <a:off x="1444752" y="1261872"/>
            <a:ext cx="731520" cy="219456"/>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Existing</a:t>
            </a:r>
            <a:endParaRPr lang="en-US" sz="1000" dirty="0"/>
          </a:p>
        </p:txBody>
      </p:sp>
      <p:sp>
        <p:nvSpPr>
          <p:cNvPr id="8" name="Shape 6"/>
          <p:cNvSpPr/>
          <p:nvPr/>
        </p:nvSpPr>
        <p:spPr>
          <a:xfrm>
            <a:off x="2194560" y="1600200"/>
            <a:ext cx="1828800" cy="347472"/>
          </a:xfrm>
          <a:prstGeom prst="roundRect">
            <a:avLst>
              <a:gd name="adj" fmla="val 21053"/>
            </a:avLst>
          </a:prstGeom>
          <a:solidFill>
            <a:srgbClr val="C9D1DB"/>
          </a:solidFill>
          <a:ln w="12700">
            <a:solidFill>
              <a:srgbClr val="C9D1DB"/>
            </a:solidFill>
            <a:prstDash val="solid"/>
          </a:ln>
        </p:spPr>
      </p:sp>
      <p:sp>
        <p:nvSpPr>
          <p:cNvPr id="9" name="Text 7"/>
          <p:cNvSpPr txBox="1"/>
          <p:nvPr/>
        </p:nvSpPr>
        <p:spPr>
          <a:xfrm>
            <a:off x="2194560" y="1600200"/>
            <a:ext cx="1828800" cy="347472"/>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Kernel test runner</a:t>
            </a:r>
            <a:endParaRPr lang="en-US" sz="1100" dirty="0"/>
          </a:p>
        </p:txBody>
      </p:sp>
      <p:sp>
        <p:nvSpPr>
          <p:cNvPr id="10" name="Shape 8"/>
          <p:cNvSpPr/>
          <p:nvPr/>
        </p:nvSpPr>
        <p:spPr>
          <a:xfrm>
            <a:off x="3108960" y="1947672"/>
            <a:ext cx="-2057400" cy="292608"/>
          </a:xfrm>
          <a:prstGeom prst="line">
            <a:avLst/>
          </a:prstGeom>
          <a:noFill/>
          <a:ln w="19050">
            <a:solidFill>
              <a:srgbClr val="6B7280"/>
            </a:solidFill>
            <a:prstDash val="solid"/>
            <a:tailEnd type="triangle"/>
          </a:ln>
        </p:spPr>
      </p:sp>
      <p:sp>
        <p:nvSpPr>
          <p:cNvPr id="11" name="Shape 9"/>
          <p:cNvSpPr/>
          <p:nvPr/>
        </p:nvSpPr>
        <p:spPr>
          <a:xfrm>
            <a:off x="457200" y="2240280"/>
            <a:ext cx="1188720" cy="566928"/>
          </a:xfrm>
          <a:prstGeom prst="roundRect">
            <a:avLst>
              <a:gd name="adj" fmla="val 12903"/>
            </a:avLst>
          </a:prstGeom>
          <a:solidFill>
            <a:srgbClr val="0E9F9A"/>
          </a:solidFill>
          <a:ln w="12700">
            <a:solidFill>
              <a:srgbClr val="0E9F9A"/>
            </a:solidFill>
            <a:prstDash val="solid"/>
          </a:ln>
        </p:spPr>
      </p:sp>
      <p:sp>
        <p:nvSpPr>
          <p:cNvPr id="12" name="Text 10"/>
          <p:cNvSpPr txBox="1"/>
          <p:nvPr/>
        </p:nvSpPr>
        <p:spPr>
          <a:xfrm>
            <a:off x="457200" y="2240280"/>
            <a:ext cx="118872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Round-robin</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2 tests</a:t>
            </a:r>
            <a:endParaRPr lang="en-US" sz="1100" dirty="0"/>
          </a:p>
        </p:txBody>
      </p:sp>
      <p:sp>
        <p:nvSpPr>
          <p:cNvPr id="13" name="Shape 11"/>
          <p:cNvSpPr/>
          <p:nvPr/>
        </p:nvSpPr>
        <p:spPr>
          <a:xfrm>
            <a:off x="3108960" y="1947672"/>
            <a:ext cx="-685800" cy="292608"/>
          </a:xfrm>
          <a:prstGeom prst="line">
            <a:avLst/>
          </a:prstGeom>
          <a:noFill/>
          <a:ln w="19050">
            <a:solidFill>
              <a:srgbClr val="6B7280"/>
            </a:solidFill>
            <a:prstDash val="solid"/>
            <a:tailEnd type="triangle"/>
          </a:ln>
        </p:spPr>
      </p:sp>
      <p:sp>
        <p:nvSpPr>
          <p:cNvPr id="14" name="Shape 12"/>
          <p:cNvSpPr/>
          <p:nvPr/>
        </p:nvSpPr>
        <p:spPr>
          <a:xfrm>
            <a:off x="1828800" y="2240280"/>
            <a:ext cx="1188720" cy="566928"/>
          </a:xfrm>
          <a:prstGeom prst="roundRect">
            <a:avLst>
              <a:gd name="adj" fmla="val 12903"/>
            </a:avLst>
          </a:prstGeom>
          <a:solidFill>
            <a:srgbClr val="0E9F9A"/>
          </a:solidFill>
          <a:ln w="12700">
            <a:solidFill>
              <a:srgbClr val="0E9F9A"/>
            </a:solidFill>
            <a:prstDash val="solid"/>
          </a:ln>
        </p:spPr>
      </p:sp>
      <p:sp>
        <p:nvSpPr>
          <p:cNvPr id="15" name="Text 13"/>
          <p:cNvSpPr txBox="1"/>
          <p:nvPr/>
        </p:nvSpPr>
        <p:spPr>
          <a:xfrm>
            <a:off x="1828800" y="2240280"/>
            <a:ext cx="118872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Starvation</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1 test</a:t>
            </a:r>
            <a:endParaRPr lang="en-US" sz="1100" dirty="0"/>
          </a:p>
        </p:txBody>
      </p:sp>
      <p:sp>
        <p:nvSpPr>
          <p:cNvPr id="16" name="Shape 14"/>
          <p:cNvSpPr/>
          <p:nvPr/>
        </p:nvSpPr>
        <p:spPr>
          <a:xfrm>
            <a:off x="3108960" y="1947672"/>
            <a:ext cx="685800" cy="292608"/>
          </a:xfrm>
          <a:prstGeom prst="line">
            <a:avLst/>
          </a:prstGeom>
          <a:noFill/>
          <a:ln w="19050">
            <a:solidFill>
              <a:srgbClr val="6B7280"/>
            </a:solidFill>
            <a:prstDash val="solid"/>
            <a:tailEnd type="triangle"/>
          </a:ln>
        </p:spPr>
      </p:sp>
      <p:sp>
        <p:nvSpPr>
          <p:cNvPr id="17" name="Shape 15"/>
          <p:cNvSpPr/>
          <p:nvPr/>
        </p:nvSpPr>
        <p:spPr>
          <a:xfrm>
            <a:off x="3200400" y="2240280"/>
            <a:ext cx="1188720" cy="566928"/>
          </a:xfrm>
          <a:prstGeom prst="roundRect">
            <a:avLst>
              <a:gd name="adj" fmla="val 12903"/>
            </a:avLst>
          </a:prstGeom>
          <a:solidFill>
            <a:srgbClr val="0E9F9A"/>
          </a:solidFill>
          <a:ln w="12700">
            <a:solidFill>
              <a:srgbClr val="0E9F9A"/>
            </a:solidFill>
            <a:prstDash val="solid"/>
          </a:ln>
        </p:spPr>
      </p:sp>
      <p:sp>
        <p:nvSpPr>
          <p:cNvPr id="18" name="Text 16"/>
          <p:cNvSpPr txBox="1"/>
          <p:nvPr/>
        </p:nvSpPr>
        <p:spPr>
          <a:xfrm>
            <a:off x="3200400" y="2240280"/>
            <a:ext cx="118872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Priority</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4 tests</a:t>
            </a:r>
            <a:endParaRPr lang="en-US" sz="1100" dirty="0"/>
          </a:p>
        </p:txBody>
      </p:sp>
      <p:sp>
        <p:nvSpPr>
          <p:cNvPr id="19" name="Shape 17"/>
          <p:cNvSpPr/>
          <p:nvPr/>
        </p:nvSpPr>
        <p:spPr>
          <a:xfrm>
            <a:off x="3108960" y="1947672"/>
            <a:ext cx="2057400" cy="292608"/>
          </a:xfrm>
          <a:prstGeom prst="line">
            <a:avLst/>
          </a:prstGeom>
          <a:noFill/>
          <a:ln w="19050">
            <a:solidFill>
              <a:srgbClr val="6B7280"/>
            </a:solidFill>
            <a:prstDash val="solid"/>
            <a:tailEnd type="triangle"/>
          </a:ln>
        </p:spPr>
      </p:sp>
      <p:sp>
        <p:nvSpPr>
          <p:cNvPr id="20" name="Shape 18"/>
          <p:cNvSpPr/>
          <p:nvPr/>
        </p:nvSpPr>
        <p:spPr>
          <a:xfrm>
            <a:off x="4572000" y="2240280"/>
            <a:ext cx="1188720" cy="566928"/>
          </a:xfrm>
          <a:prstGeom prst="roundRect">
            <a:avLst>
              <a:gd name="adj" fmla="val 12903"/>
            </a:avLst>
          </a:prstGeom>
          <a:solidFill>
            <a:srgbClr val="0E9F9A"/>
          </a:solidFill>
          <a:ln w="12700">
            <a:solidFill>
              <a:srgbClr val="0E9F9A"/>
            </a:solidFill>
            <a:prstDash val="solid"/>
          </a:ln>
        </p:spPr>
      </p:sp>
      <p:sp>
        <p:nvSpPr>
          <p:cNvPr id="21" name="Text 19"/>
          <p:cNvSpPr txBox="1"/>
          <p:nvPr/>
        </p:nvSpPr>
        <p:spPr>
          <a:xfrm>
            <a:off x="4572000" y="2240280"/>
            <a:ext cx="118872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Affinity</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5 tests</a:t>
            </a:r>
            <a:endParaRPr lang="en-US" sz="1100" dirty="0"/>
          </a:p>
        </p:txBody>
      </p:sp>
      <p:sp>
        <p:nvSpPr>
          <p:cNvPr id="22" name="Shape 20"/>
          <p:cNvSpPr/>
          <p:nvPr/>
        </p:nvSpPr>
        <p:spPr>
          <a:xfrm>
            <a:off x="457200" y="3108960"/>
            <a:ext cx="2468880" cy="566928"/>
          </a:xfrm>
          <a:prstGeom prst="roundRect">
            <a:avLst>
              <a:gd name="adj" fmla="val 12903"/>
            </a:avLst>
          </a:prstGeom>
          <a:solidFill>
            <a:srgbClr val="14213D"/>
          </a:solidFill>
          <a:ln w="12700">
            <a:solidFill>
              <a:srgbClr val="14213D"/>
            </a:solidFill>
            <a:prstDash val="solid"/>
          </a:ln>
        </p:spPr>
      </p:sp>
      <p:sp>
        <p:nvSpPr>
          <p:cNvPr id="23" name="Text 21"/>
          <p:cNvSpPr txBox="1"/>
          <p:nvPr/>
        </p:nvSpPr>
        <p:spPr>
          <a:xfrm>
            <a:off x="457200" y="3108960"/>
            <a:ext cx="24688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Measurement harness</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Load, measure, verdict</a:t>
            </a:r>
            <a:endParaRPr lang="en-US" sz="1100" dirty="0"/>
          </a:p>
        </p:txBody>
      </p:sp>
      <p:sp>
        <p:nvSpPr>
          <p:cNvPr id="24" name="Shape 22"/>
          <p:cNvSpPr/>
          <p:nvPr/>
        </p:nvSpPr>
        <p:spPr>
          <a:xfrm>
            <a:off x="3291840" y="3108960"/>
            <a:ext cx="2468880" cy="566928"/>
          </a:xfrm>
          <a:prstGeom prst="roundRect">
            <a:avLst>
              <a:gd name="adj" fmla="val 12903"/>
            </a:avLst>
          </a:prstGeom>
          <a:solidFill>
            <a:srgbClr val="14213D"/>
          </a:solidFill>
          <a:ln w="12700">
            <a:solidFill>
              <a:srgbClr val="14213D"/>
            </a:solidFill>
            <a:prstDash val="solid"/>
          </a:ln>
        </p:spPr>
      </p:sp>
      <p:sp>
        <p:nvSpPr>
          <p:cNvPr id="25" name="Text 23"/>
          <p:cNvSpPr txBox="1"/>
          <p:nvPr/>
        </p:nvSpPr>
        <p:spPr>
          <a:xfrm>
            <a:off x="3291840" y="3108960"/>
            <a:ext cx="24688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Starvation monitor</a:t>
            </a:r>
            <a:endParaRPr lang="en-US" sz="1100" dirty="0"/>
          </a:p>
          <a:p>
            <a:pPr algn="ctr" indent="0" marL="0">
              <a:buNone/>
            </a:pPr>
            <a:r>
              <a:rPr lang="en-US" sz="1000" dirty="0">
                <a:solidFill>
                  <a:srgbClr val="FFFFFF"/>
                </a:solidFill>
                <a:latin typeface="Calibri" pitchFamily="34" charset="0"/>
                <a:ea typeface="Calibri" pitchFamily="34" charset="-122"/>
                <a:cs typeface="Calibri" pitchFamily="34" charset="-120"/>
              </a:rPr>
              <a:t>Flags stuck tasks</a:t>
            </a:r>
            <a:endParaRPr lang="en-US" sz="1100" dirty="0"/>
          </a:p>
        </p:txBody>
      </p:sp>
      <p:sp>
        <p:nvSpPr>
          <p:cNvPr id="26" name="Shape 24"/>
          <p:cNvSpPr/>
          <p:nvPr/>
        </p:nvSpPr>
        <p:spPr>
          <a:xfrm>
            <a:off x="3108960" y="2807208"/>
            <a:ext cx="-1417320" cy="301752"/>
          </a:xfrm>
          <a:prstGeom prst="line">
            <a:avLst/>
          </a:prstGeom>
          <a:noFill/>
          <a:ln w="19050">
            <a:solidFill>
              <a:srgbClr val="6B7280"/>
            </a:solidFill>
            <a:prstDash val="solid"/>
            <a:tailEnd type="triangle"/>
          </a:ln>
        </p:spPr>
      </p:sp>
      <p:sp>
        <p:nvSpPr>
          <p:cNvPr id="27" name="Shape 25"/>
          <p:cNvSpPr/>
          <p:nvPr/>
        </p:nvSpPr>
        <p:spPr>
          <a:xfrm>
            <a:off x="3108960" y="2807208"/>
            <a:ext cx="1417320" cy="301752"/>
          </a:xfrm>
          <a:prstGeom prst="line">
            <a:avLst/>
          </a:prstGeom>
          <a:noFill/>
          <a:ln w="19050">
            <a:solidFill>
              <a:srgbClr val="6B7280"/>
            </a:solidFill>
            <a:prstDash val="solid"/>
            <a:tailEnd type="triangle"/>
          </a:ln>
        </p:spPr>
      </p:sp>
      <p:sp>
        <p:nvSpPr>
          <p:cNvPr id="28" name="Shape 26"/>
          <p:cNvSpPr/>
          <p:nvPr/>
        </p:nvSpPr>
        <p:spPr>
          <a:xfrm>
            <a:off x="457200" y="3977640"/>
            <a:ext cx="5303520" cy="731520"/>
          </a:xfrm>
          <a:prstGeom prst="roundRect">
            <a:avLst>
              <a:gd name="adj" fmla="val 10000"/>
            </a:avLst>
          </a:prstGeom>
          <a:solidFill>
            <a:srgbClr val="EEF2F6"/>
          </a:solidFill>
          <a:ln w="12700">
            <a:solidFill>
              <a:srgbClr val="C9D1DB"/>
            </a:solidFill>
            <a:prstDash val="solid"/>
          </a:ln>
        </p:spPr>
      </p:sp>
      <p:sp>
        <p:nvSpPr>
          <p:cNvPr id="29" name="Text 27"/>
          <p:cNvSpPr txBox="1"/>
          <p:nvPr/>
        </p:nvSpPr>
        <p:spPr>
          <a:xfrm>
            <a:off x="640080" y="3977640"/>
            <a:ext cx="1828800" cy="73152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TizenRT scheduler</a:t>
            </a:r>
            <a:endParaRPr lang="en-US" sz="1100" dirty="0"/>
          </a:p>
          <a:p>
            <a:pPr indent="0" marL="0">
              <a:buNone/>
            </a:pPr>
            <a:r>
              <a:rPr lang="en-US" sz="1000" dirty="0">
                <a:solidFill>
                  <a:srgbClr val="6B7280"/>
                </a:solidFill>
                <a:latin typeface="Calibri" pitchFamily="34" charset="0"/>
                <a:ea typeface="Calibri" pitchFamily="34" charset="-122"/>
                <a:cs typeface="Calibri" pitchFamily="34" charset="-120"/>
              </a:rPr>
              <a:t>Unchanged</a:t>
            </a:r>
            <a:endParaRPr lang="en-US" sz="1100" dirty="0"/>
          </a:p>
        </p:txBody>
      </p:sp>
      <p:sp>
        <p:nvSpPr>
          <p:cNvPr id="30" name="Shape 28"/>
          <p:cNvSpPr/>
          <p:nvPr/>
        </p:nvSpPr>
        <p:spPr>
          <a:xfrm>
            <a:off x="2971800" y="4160520"/>
            <a:ext cx="1143000" cy="365760"/>
          </a:xfrm>
          <a:prstGeom prst="roundRect">
            <a:avLst>
              <a:gd name="adj" fmla="val 20000"/>
            </a:avLst>
          </a:prstGeom>
          <a:solidFill>
            <a:srgbClr val="C9D1DB"/>
          </a:solidFill>
          <a:ln w="12700">
            <a:solidFill>
              <a:srgbClr val="C9D1DB"/>
            </a:solidFill>
            <a:prstDash val="solid"/>
          </a:ln>
        </p:spPr>
      </p:sp>
      <p:sp>
        <p:nvSpPr>
          <p:cNvPr id="31" name="Text 29"/>
          <p:cNvSpPr txBox="1"/>
          <p:nvPr/>
        </p:nvSpPr>
        <p:spPr>
          <a:xfrm>
            <a:off x="2971800" y="4160520"/>
            <a:ext cx="1143000" cy="36576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CPU 0</a:t>
            </a:r>
            <a:endParaRPr lang="en-US" sz="1000" dirty="0"/>
          </a:p>
        </p:txBody>
      </p:sp>
      <p:sp>
        <p:nvSpPr>
          <p:cNvPr id="32" name="Shape 30"/>
          <p:cNvSpPr/>
          <p:nvPr/>
        </p:nvSpPr>
        <p:spPr>
          <a:xfrm>
            <a:off x="4343400" y="4160520"/>
            <a:ext cx="1143000" cy="365760"/>
          </a:xfrm>
          <a:prstGeom prst="roundRect">
            <a:avLst>
              <a:gd name="adj" fmla="val 20000"/>
            </a:avLst>
          </a:prstGeom>
          <a:solidFill>
            <a:srgbClr val="C9D1DB"/>
          </a:solidFill>
          <a:ln w="12700">
            <a:solidFill>
              <a:srgbClr val="C9D1DB"/>
            </a:solidFill>
            <a:prstDash val="solid"/>
          </a:ln>
        </p:spPr>
      </p:sp>
      <p:sp>
        <p:nvSpPr>
          <p:cNvPr id="33" name="Text 31"/>
          <p:cNvSpPr txBox="1"/>
          <p:nvPr/>
        </p:nvSpPr>
        <p:spPr>
          <a:xfrm>
            <a:off x="4343400" y="4160520"/>
            <a:ext cx="1143000" cy="36576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CPU 1</a:t>
            </a:r>
            <a:endParaRPr lang="en-US" sz="1000" dirty="0"/>
          </a:p>
        </p:txBody>
      </p:sp>
      <p:sp>
        <p:nvSpPr>
          <p:cNvPr id="34" name="Shape 32"/>
          <p:cNvSpPr/>
          <p:nvPr/>
        </p:nvSpPr>
        <p:spPr>
          <a:xfrm>
            <a:off x="1691640" y="3675888"/>
            <a:ext cx="0" cy="301752"/>
          </a:xfrm>
          <a:prstGeom prst="line">
            <a:avLst/>
          </a:prstGeom>
          <a:noFill/>
          <a:ln w="19050">
            <a:solidFill>
              <a:srgbClr val="6B7280"/>
            </a:solidFill>
            <a:prstDash val="solid"/>
            <a:tailEnd type="triangle"/>
          </a:ln>
        </p:spPr>
      </p:sp>
      <p:sp>
        <p:nvSpPr>
          <p:cNvPr id="35" name="Shape 33"/>
          <p:cNvSpPr/>
          <p:nvPr/>
        </p:nvSpPr>
        <p:spPr>
          <a:xfrm>
            <a:off x="4526280" y="3675888"/>
            <a:ext cx="0" cy="301752"/>
          </a:xfrm>
          <a:prstGeom prst="line">
            <a:avLst/>
          </a:prstGeom>
          <a:noFill/>
          <a:ln w="19050">
            <a:solidFill>
              <a:srgbClr val="6B7280"/>
            </a:solidFill>
            <a:prstDash val="solid"/>
            <a:tailEnd type="triangle"/>
          </a:ln>
        </p:spPr>
      </p:sp>
      <p:sp>
        <p:nvSpPr>
          <p:cNvPr id="36" name="Shape 34"/>
          <p:cNvSpPr/>
          <p:nvPr/>
        </p:nvSpPr>
        <p:spPr>
          <a:xfrm>
            <a:off x="6126480" y="1234440"/>
            <a:ext cx="2560320" cy="3474720"/>
          </a:xfrm>
          <a:prstGeom prst="roundRect">
            <a:avLst>
              <a:gd name="adj" fmla="val 2857"/>
            </a:avLst>
          </a:prstGeom>
          <a:solidFill>
            <a:srgbClr val="EEF2F6"/>
          </a:solidFill>
          <a:ln w="12700">
            <a:solidFill>
              <a:srgbClr val="EEF2F6"/>
            </a:solidFill>
            <a:prstDash val="solid"/>
          </a:ln>
        </p:spPr>
      </p:sp>
      <p:sp>
        <p:nvSpPr>
          <p:cNvPr id="37" name="Text 35"/>
          <p:cNvSpPr txBox="1"/>
          <p:nvPr/>
        </p:nvSpPr>
        <p:spPr>
          <a:xfrm>
            <a:off x="6309360" y="1371600"/>
            <a:ext cx="4114800" cy="274320"/>
          </a:xfrm>
          <a:prstGeom prst="rect">
            <a:avLst/>
          </a:prstGeom>
          <a:noFill/>
          <a:ln/>
        </p:spPr>
        <p:txBody>
          <a:bodyPr wrap="square" lIns="0" tIns="0" rIns="0" bIns="0" rtlCol="0" anchor="ctr"/>
          <a:lstStyle/>
          <a:p>
            <a:pPr indent="0" marL="0">
              <a:buNone/>
            </a:pPr>
            <a:r>
              <a:rPr lang="en-US" sz="1200" b="1" spc="200" kern="0" dirty="0">
                <a:solidFill>
                  <a:srgbClr val="0E9F9A"/>
                </a:solidFill>
                <a:latin typeface="Calibri" pitchFamily="34" charset="0"/>
                <a:ea typeface="Calibri" pitchFamily="34" charset="-122"/>
                <a:cs typeface="Calibri" pitchFamily="34" charset="-120"/>
              </a:rPr>
              <a:t>DESIGN POINTS</a:t>
            </a:r>
            <a:endParaRPr lang="en-US" sz="1200" dirty="0"/>
          </a:p>
        </p:txBody>
      </p:sp>
      <p:sp>
        <p:nvSpPr>
          <p:cNvPr id="38" name="Shape 36"/>
          <p:cNvSpPr/>
          <p:nvPr/>
        </p:nvSpPr>
        <p:spPr>
          <a:xfrm>
            <a:off x="6309360" y="1783080"/>
            <a:ext cx="310896" cy="310896"/>
          </a:xfrm>
          <a:prstGeom prst="ellipse">
            <a:avLst/>
          </a:prstGeom>
          <a:solidFill>
            <a:srgbClr val="0E9F9A"/>
          </a:solidFill>
          <a:ln w="12700">
            <a:solidFill>
              <a:srgbClr val="0E9F9A"/>
            </a:solidFill>
            <a:prstDash val="solid"/>
          </a:ln>
        </p:spPr>
      </p:sp>
      <p:sp>
        <p:nvSpPr>
          <p:cNvPr id="39" name="Text 37"/>
          <p:cNvSpPr txBox="1"/>
          <p:nvPr/>
        </p:nvSpPr>
        <p:spPr>
          <a:xfrm>
            <a:off x="6309360" y="17830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8"/>
          <p:cNvSpPr txBox="1"/>
          <p:nvPr/>
        </p:nvSpPr>
        <p:spPr>
          <a:xfrm>
            <a:off x="6720840" y="1746504"/>
            <a:ext cx="1874520" cy="566928"/>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Work, not time</a:t>
            </a:r>
            <a:endParaRPr lang="en-US" sz="1200" dirty="0"/>
          </a:p>
          <a:p>
            <a:pPr indent="0" marL="0">
              <a:buNone/>
            </a:pPr>
            <a:r>
              <a:rPr lang="en-US" sz="1100" dirty="0">
                <a:solidFill>
                  <a:srgbClr val="1F2937"/>
                </a:solidFill>
                <a:latin typeface="Calibri" pitchFamily="34" charset="0"/>
                <a:ea typeface="Calibri" pitchFamily="34" charset="-122"/>
                <a:cs typeface="Calibri" pitchFamily="34" charset="-120"/>
              </a:rPr>
              <a:t>Counts work done per task.</a:t>
            </a:r>
            <a:endParaRPr lang="en-US" sz="1200" dirty="0"/>
          </a:p>
        </p:txBody>
      </p:sp>
      <p:sp>
        <p:nvSpPr>
          <p:cNvPr id="41" name="Shape 39"/>
          <p:cNvSpPr/>
          <p:nvPr/>
        </p:nvSpPr>
        <p:spPr>
          <a:xfrm>
            <a:off x="6309360" y="2496312"/>
            <a:ext cx="310896" cy="310896"/>
          </a:xfrm>
          <a:prstGeom prst="ellipse">
            <a:avLst/>
          </a:prstGeom>
          <a:solidFill>
            <a:srgbClr val="0E9F9A"/>
          </a:solidFill>
          <a:ln w="12700">
            <a:solidFill>
              <a:srgbClr val="0E9F9A"/>
            </a:solidFill>
            <a:prstDash val="solid"/>
          </a:ln>
        </p:spPr>
      </p:sp>
      <p:sp>
        <p:nvSpPr>
          <p:cNvPr id="42" name="Text 40"/>
          <p:cNvSpPr txBox="1"/>
          <p:nvPr/>
        </p:nvSpPr>
        <p:spPr>
          <a:xfrm>
            <a:off x="6309360" y="24963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3" name="Text 41"/>
          <p:cNvSpPr txBox="1"/>
          <p:nvPr/>
        </p:nvSpPr>
        <p:spPr>
          <a:xfrm>
            <a:off x="6720840" y="2459736"/>
            <a:ext cx="1874520" cy="566928"/>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Per-core counters</a:t>
            </a:r>
            <a:endParaRPr lang="en-US" sz="1200" dirty="0"/>
          </a:p>
          <a:p>
            <a:pPr indent="0" marL="0">
              <a:buNone/>
            </a:pPr>
            <a:r>
              <a:rPr lang="en-US" sz="1100" dirty="0">
                <a:solidFill>
                  <a:srgbClr val="1F2937"/>
                </a:solidFill>
                <a:latin typeface="Calibri" pitchFamily="34" charset="0"/>
                <a:ea typeface="Calibri" pitchFamily="34" charset="-122"/>
                <a:cs typeface="Calibri" pitchFamily="34" charset="-120"/>
              </a:rPr>
              <a:t>No cross-core distortion.</a:t>
            </a:r>
            <a:endParaRPr lang="en-US" sz="1200" dirty="0"/>
          </a:p>
        </p:txBody>
      </p:sp>
      <p:sp>
        <p:nvSpPr>
          <p:cNvPr id="44" name="Shape 42"/>
          <p:cNvSpPr/>
          <p:nvPr/>
        </p:nvSpPr>
        <p:spPr>
          <a:xfrm>
            <a:off x="6309360" y="3209544"/>
            <a:ext cx="310896" cy="310896"/>
          </a:xfrm>
          <a:prstGeom prst="ellipse">
            <a:avLst/>
          </a:prstGeom>
          <a:solidFill>
            <a:srgbClr val="0E9F9A"/>
          </a:solidFill>
          <a:ln w="12700">
            <a:solidFill>
              <a:srgbClr val="0E9F9A"/>
            </a:solidFill>
            <a:prstDash val="solid"/>
          </a:ln>
        </p:spPr>
      </p:sp>
      <p:sp>
        <p:nvSpPr>
          <p:cNvPr id="45" name="Text 43"/>
          <p:cNvSpPr txBox="1"/>
          <p:nvPr/>
        </p:nvSpPr>
        <p:spPr>
          <a:xfrm>
            <a:off x="6309360" y="32095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4"/>
          <p:cNvSpPr txBox="1"/>
          <p:nvPr/>
        </p:nvSpPr>
        <p:spPr>
          <a:xfrm>
            <a:off x="6720840" y="3172968"/>
            <a:ext cx="1874520" cy="566928"/>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Safe cleanup</a:t>
            </a:r>
            <a:endParaRPr lang="en-US" sz="1200" dirty="0"/>
          </a:p>
          <a:p>
            <a:pPr indent="0" marL="0">
              <a:buNone/>
            </a:pPr>
            <a:r>
              <a:rPr lang="en-US" sz="1100" dirty="0">
                <a:solidFill>
                  <a:srgbClr val="1F2937"/>
                </a:solidFill>
                <a:latin typeface="Calibri" pitchFamily="34" charset="0"/>
                <a:ea typeface="Calibri" pitchFamily="34" charset="-122"/>
                <a:cs typeface="Calibri" pitchFamily="34" charset="-120"/>
              </a:rPr>
              <a:t>Tasks stop before any verdict.</a:t>
            </a:r>
            <a:endParaRPr lang="en-US" sz="1200" dirty="0"/>
          </a:p>
        </p:txBody>
      </p:sp>
      <p:sp>
        <p:nvSpPr>
          <p:cNvPr id="47" name="Shape 45"/>
          <p:cNvSpPr/>
          <p:nvPr/>
        </p:nvSpPr>
        <p:spPr>
          <a:xfrm>
            <a:off x="6309360" y="3922776"/>
            <a:ext cx="310896" cy="310896"/>
          </a:xfrm>
          <a:prstGeom prst="ellipse">
            <a:avLst/>
          </a:prstGeom>
          <a:solidFill>
            <a:srgbClr val="0E9F9A"/>
          </a:solidFill>
          <a:ln w="12700">
            <a:solidFill>
              <a:srgbClr val="0E9F9A"/>
            </a:solidFill>
            <a:prstDash val="solid"/>
          </a:ln>
        </p:spPr>
      </p:sp>
      <p:sp>
        <p:nvSpPr>
          <p:cNvPr id="48" name="Text 46"/>
          <p:cNvSpPr txBox="1"/>
          <p:nvPr/>
        </p:nvSpPr>
        <p:spPr>
          <a:xfrm>
            <a:off x="6309360" y="392277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9" name="Text 47"/>
          <p:cNvSpPr txBox="1"/>
          <p:nvPr/>
        </p:nvSpPr>
        <p:spPr>
          <a:xfrm>
            <a:off x="6720840" y="3886200"/>
            <a:ext cx="1874520" cy="566928"/>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Opt-in</a:t>
            </a:r>
            <a:endParaRPr lang="en-US" sz="1200" dirty="0"/>
          </a:p>
          <a:p>
            <a:pPr indent="0" marL="0">
              <a:buNone/>
            </a:pPr>
            <a:r>
              <a:rPr lang="en-US" sz="1100" dirty="0">
                <a:solidFill>
                  <a:srgbClr val="1F2937"/>
                </a:solidFill>
                <a:latin typeface="Calibri" pitchFamily="34" charset="0"/>
                <a:ea typeface="Calibri" pitchFamily="34" charset="-122"/>
                <a:cs typeface="Calibri" pitchFamily="34" charset="-120"/>
              </a:rPr>
              <a:t>Off by default. Zero risk.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How It Works and What It Catches</a:t>
            </a:r>
            <a:endParaRPr lang="en-US" sz="2600" dirty="0"/>
          </a:p>
        </p:txBody>
      </p:sp>
      <p:sp>
        <p:nvSpPr>
          <p:cNvPr id="3" name="Text 1"/>
          <p:cNvSpPr txBox="1"/>
          <p:nvPr/>
        </p:nvSpPr>
        <p:spPr>
          <a:xfrm>
            <a:off x="457200" y="731520"/>
            <a:ext cx="82296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Real load on real cores. Checks behavior, not return codes.</a:t>
            </a:r>
            <a:endParaRPr lang="en-US" sz="1200" dirty="0"/>
          </a:p>
        </p:txBody>
      </p:sp>
      <p:sp>
        <p:nvSpPr>
          <p:cNvPr id="4" name="Shape 2"/>
          <p:cNvSpPr/>
          <p:nvPr/>
        </p:nvSpPr>
        <p:spPr>
          <a:xfrm>
            <a:off x="457200" y="1234440"/>
            <a:ext cx="1371600" cy="731520"/>
          </a:xfrm>
          <a:prstGeom prst="roundRect">
            <a:avLst>
              <a:gd name="adj" fmla="val 10000"/>
            </a:avLst>
          </a:prstGeom>
          <a:solidFill>
            <a:srgbClr val="14213D"/>
          </a:solidFill>
          <a:ln w="12700">
            <a:solidFill>
              <a:srgbClr val="14213D"/>
            </a:solidFill>
            <a:prstDash val="solid"/>
          </a:ln>
        </p:spPr>
      </p:sp>
      <p:sp>
        <p:nvSpPr>
          <p:cNvPr id="5" name="Text 3"/>
          <p:cNvSpPr txBox="1"/>
          <p:nvPr/>
        </p:nvSpPr>
        <p:spPr>
          <a:xfrm>
            <a:off x="457200" y="1234440"/>
            <a:ext cx="137160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Create load</a:t>
            </a:r>
            <a:endParaRPr lang="en-US" sz="1200" dirty="0"/>
          </a:p>
          <a:p>
            <a:pPr algn="ctr" indent="0" marL="0">
              <a:buNone/>
            </a:pPr>
            <a:r>
              <a:rPr lang="en-US" sz="1000" dirty="0">
                <a:solidFill>
                  <a:srgbClr val="FFFFFF"/>
                </a:solidFill>
                <a:latin typeface="Calibri" pitchFamily="34" charset="0"/>
                <a:ea typeface="Calibri" pitchFamily="34" charset="-122"/>
                <a:cs typeface="Calibri" pitchFamily="34" charset="-120"/>
              </a:rPr>
              <a:t>CPU-bound tasks</a:t>
            </a:r>
            <a:endParaRPr lang="en-US" sz="1200" dirty="0"/>
          </a:p>
        </p:txBody>
      </p:sp>
      <p:sp>
        <p:nvSpPr>
          <p:cNvPr id="6" name="Shape 4"/>
          <p:cNvSpPr/>
          <p:nvPr/>
        </p:nvSpPr>
        <p:spPr>
          <a:xfrm>
            <a:off x="1856232" y="1600200"/>
            <a:ext cx="288036" cy="0"/>
          </a:xfrm>
          <a:prstGeom prst="line">
            <a:avLst/>
          </a:prstGeom>
          <a:noFill/>
          <a:ln w="19050">
            <a:solidFill>
              <a:srgbClr val="0E9F9A"/>
            </a:solidFill>
            <a:prstDash val="solid"/>
            <a:tailEnd type="triangle"/>
          </a:ln>
        </p:spPr>
      </p:sp>
      <p:sp>
        <p:nvSpPr>
          <p:cNvPr id="7" name="Shape 5"/>
          <p:cNvSpPr/>
          <p:nvPr/>
        </p:nvSpPr>
        <p:spPr>
          <a:xfrm>
            <a:off x="2171700" y="1234440"/>
            <a:ext cx="1371600" cy="731520"/>
          </a:xfrm>
          <a:prstGeom prst="roundRect">
            <a:avLst>
              <a:gd name="adj" fmla="val 10000"/>
            </a:avLst>
          </a:prstGeom>
          <a:solidFill>
            <a:srgbClr val="14213D"/>
          </a:solidFill>
          <a:ln w="12700">
            <a:solidFill>
              <a:srgbClr val="14213D"/>
            </a:solidFill>
            <a:prstDash val="solid"/>
          </a:ln>
        </p:spPr>
      </p:sp>
      <p:sp>
        <p:nvSpPr>
          <p:cNvPr id="8" name="Text 6"/>
          <p:cNvSpPr txBox="1"/>
          <p:nvPr/>
        </p:nvSpPr>
        <p:spPr>
          <a:xfrm>
            <a:off x="2171700" y="1234440"/>
            <a:ext cx="137160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Warm up</a:t>
            </a:r>
            <a:endParaRPr lang="en-US" sz="1200" dirty="0"/>
          </a:p>
          <a:p>
            <a:pPr algn="ctr" indent="0" marL="0">
              <a:buNone/>
            </a:pPr>
            <a:r>
              <a:rPr lang="en-US" sz="1000" dirty="0">
                <a:solidFill>
                  <a:srgbClr val="FFFFFF"/>
                </a:solidFill>
                <a:latin typeface="Calibri" pitchFamily="34" charset="0"/>
                <a:ea typeface="Calibri" pitchFamily="34" charset="-122"/>
                <a:cs typeface="Calibri" pitchFamily="34" charset="-120"/>
              </a:rPr>
              <a:t>200 ms, discarded</a:t>
            </a:r>
            <a:endParaRPr lang="en-US" sz="1200" dirty="0"/>
          </a:p>
        </p:txBody>
      </p:sp>
      <p:sp>
        <p:nvSpPr>
          <p:cNvPr id="9" name="Shape 7"/>
          <p:cNvSpPr/>
          <p:nvPr/>
        </p:nvSpPr>
        <p:spPr>
          <a:xfrm>
            <a:off x="3570732" y="1600200"/>
            <a:ext cx="288036" cy="0"/>
          </a:xfrm>
          <a:prstGeom prst="line">
            <a:avLst/>
          </a:prstGeom>
          <a:noFill/>
          <a:ln w="19050">
            <a:solidFill>
              <a:srgbClr val="0E9F9A"/>
            </a:solidFill>
            <a:prstDash val="solid"/>
            <a:tailEnd type="triangle"/>
          </a:ln>
        </p:spPr>
      </p:sp>
      <p:sp>
        <p:nvSpPr>
          <p:cNvPr id="10" name="Shape 8"/>
          <p:cNvSpPr/>
          <p:nvPr/>
        </p:nvSpPr>
        <p:spPr>
          <a:xfrm>
            <a:off x="3886200" y="1234440"/>
            <a:ext cx="1371600" cy="731520"/>
          </a:xfrm>
          <a:prstGeom prst="roundRect">
            <a:avLst>
              <a:gd name="adj" fmla="val 10000"/>
            </a:avLst>
          </a:prstGeom>
          <a:solidFill>
            <a:srgbClr val="14213D"/>
          </a:solidFill>
          <a:ln w="12700">
            <a:solidFill>
              <a:srgbClr val="14213D"/>
            </a:solidFill>
            <a:prstDash val="solid"/>
          </a:ln>
        </p:spPr>
      </p:sp>
      <p:sp>
        <p:nvSpPr>
          <p:cNvPr id="11" name="Text 9"/>
          <p:cNvSpPr txBox="1"/>
          <p:nvPr/>
        </p:nvSpPr>
        <p:spPr>
          <a:xfrm>
            <a:off x="3886200" y="1234440"/>
            <a:ext cx="137160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Measure</a:t>
            </a:r>
            <a:endParaRPr lang="en-US" sz="1200" dirty="0"/>
          </a:p>
          <a:p>
            <a:pPr algn="ctr" indent="0" marL="0">
              <a:buNone/>
            </a:pPr>
            <a:r>
              <a:rPr lang="en-US" sz="1000" dirty="0">
                <a:solidFill>
                  <a:srgbClr val="FFFFFF"/>
                </a:solidFill>
                <a:latin typeface="Calibri" pitchFamily="34" charset="0"/>
                <a:ea typeface="Calibri" pitchFamily="34" charset="-122"/>
                <a:cs typeface="Calibri" pitchFamily="34" charset="-120"/>
              </a:rPr>
              <a:t>1 to 3 s window</a:t>
            </a:r>
            <a:endParaRPr lang="en-US" sz="1200" dirty="0"/>
          </a:p>
        </p:txBody>
      </p:sp>
      <p:sp>
        <p:nvSpPr>
          <p:cNvPr id="12" name="Shape 10"/>
          <p:cNvSpPr/>
          <p:nvPr/>
        </p:nvSpPr>
        <p:spPr>
          <a:xfrm>
            <a:off x="5285232" y="1600200"/>
            <a:ext cx="288036" cy="0"/>
          </a:xfrm>
          <a:prstGeom prst="line">
            <a:avLst/>
          </a:prstGeom>
          <a:noFill/>
          <a:ln w="19050">
            <a:solidFill>
              <a:srgbClr val="0E9F9A"/>
            </a:solidFill>
            <a:prstDash val="solid"/>
            <a:tailEnd type="triangle"/>
          </a:ln>
        </p:spPr>
      </p:sp>
      <p:sp>
        <p:nvSpPr>
          <p:cNvPr id="13" name="Shape 11"/>
          <p:cNvSpPr/>
          <p:nvPr/>
        </p:nvSpPr>
        <p:spPr>
          <a:xfrm>
            <a:off x="5600700" y="1234440"/>
            <a:ext cx="1371600" cy="731520"/>
          </a:xfrm>
          <a:prstGeom prst="roundRect">
            <a:avLst>
              <a:gd name="adj" fmla="val 10000"/>
            </a:avLst>
          </a:prstGeom>
          <a:solidFill>
            <a:srgbClr val="14213D"/>
          </a:solidFill>
          <a:ln w="12700">
            <a:solidFill>
              <a:srgbClr val="14213D"/>
            </a:solidFill>
            <a:prstDash val="solid"/>
          </a:ln>
        </p:spPr>
      </p:sp>
      <p:sp>
        <p:nvSpPr>
          <p:cNvPr id="14" name="Text 12"/>
          <p:cNvSpPr txBox="1"/>
          <p:nvPr/>
        </p:nvSpPr>
        <p:spPr>
          <a:xfrm>
            <a:off x="5600700" y="1234440"/>
            <a:ext cx="137160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Clean up</a:t>
            </a:r>
            <a:endParaRPr lang="en-US" sz="1200" dirty="0"/>
          </a:p>
          <a:p>
            <a:pPr algn="ctr" indent="0" marL="0">
              <a:buNone/>
            </a:pPr>
            <a:r>
              <a:rPr lang="en-US" sz="1000" dirty="0">
                <a:solidFill>
                  <a:srgbClr val="FFFFFF"/>
                </a:solidFill>
                <a:latin typeface="Calibri" pitchFamily="34" charset="0"/>
                <a:ea typeface="Calibri" pitchFamily="34" charset="-122"/>
                <a:cs typeface="Calibri" pitchFamily="34" charset="-120"/>
              </a:rPr>
              <a:t>Before any verdict</a:t>
            </a:r>
            <a:endParaRPr lang="en-US" sz="1200" dirty="0"/>
          </a:p>
        </p:txBody>
      </p:sp>
      <p:sp>
        <p:nvSpPr>
          <p:cNvPr id="15" name="Shape 13"/>
          <p:cNvSpPr/>
          <p:nvPr/>
        </p:nvSpPr>
        <p:spPr>
          <a:xfrm>
            <a:off x="6999732" y="1600200"/>
            <a:ext cx="288036" cy="0"/>
          </a:xfrm>
          <a:prstGeom prst="line">
            <a:avLst/>
          </a:prstGeom>
          <a:noFill/>
          <a:ln w="19050">
            <a:solidFill>
              <a:srgbClr val="0E9F9A"/>
            </a:solidFill>
            <a:prstDash val="solid"/>
            <a:tailEnd type="triangle"/>
          </a:ln>
        </p:spPr>
      </p:sp>
      <p:sp>
        <p:nvSpPr>
          <p:cNvPr id="16" name="Shape 14"/>
          <p:cNvSpPr/>
          <p:nvPr/>
        </p:nvSpPr>
        <p:spPr>
          <a:xfrm>
            <a:off x="7315200" y="1234440"/>
            <a:ext cx="1371600" cy="731520"/>
          </a:xfrm>
          <a:prstGeom prst="roundRect">
            <a:avLst>
              <a:gd name="adj" fmla="val 10000"/>
            </a:avLst>
          </a:prstGeom>
          <a:solidFill>
            <a:srgbClr val="F4A259"/>
          </a:solidFill>
          <a:ln w="12700">
            <a:solidFill>
              <a:srgbClr val="F4A259"/>
            </a:solidFill>
            <a:prstDash val="solid"/>
          </a:ln>
        </p:spPr>
      </p:sp>
      <p:sp>
        <p:nvSpPr>
          <p:cNvPr id="17" name="Text 15"/>
          <p:cNvSpPr txBox="1"/>
          <p:nvPr/>
        </p:nvSpPr>
        <p:spPr>
          <a:xfrm>
            <a:off x="7315200" y="1234440"/>
            <a:ext cx="1371600" cy="7315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Pass / Fail</a:t>
            </a:r>
            <a:endParaRPr lang="en-US" sz="1200" dirty="0"/>
          </a:p>
          <a:p>
            <a:pPr algn="ctr" indent="0" marL="0">
              <a:buNone/>
            </a:pPr>
            <a:r>
              <a:rPr lang="en-US" sz="1000" dirty="0">
                <a:solidFill>
                  <a:srgbClr val="1F2937"/>
                </a:solidFill>
                <a:latin typeface="Calibri" pitchFamily="34" charset="0"/>
                <a:ea typeface="Calibri" pitchFamily="34" charset="-122"/>
                <a:cs typeface="Calibri" pitchFamily="34" charset="-120"/>
              </a:rPr>
              <a:t>Hard + tolerance</a:t>
            </a:r>
            <a:endParaRPr lang="en-US" sz="1200" dirty="0"/>
          </a:p>
        </p:txBody>
      </p:sp>
      <p:sp>
        <p:nvSpPr>
          <p:cNvPr id="18" name="Text 16"/>
          <p:cNvSpPr txBox="1"/>
          <p:nvPr/>
        </p:nvSpPr>
        <p:spPr>
          <a:xfrm>
            <a:off x="457200" y="2194560"/>
            <a:ext cx="4114800" cy="274320"/>
          </a:xfrm>
          <a:prstGeom prst="rect">
            <a:avLst/>
          </a:prstGeom>
          <a:noFill/>
          <a:ln/>
        </p:spPr>
        <p:txBody>
          <a:bodyPr wrap="square" lIns="0" tIns="0" rIns="0" bIns="0" rtlCol="0" anchor="ctr"/>
          <a:lstStyle/>
          <a:p>
            <a:pPr indent="0" marL="0">
              <a:buNone/>
            </a:pPr>
            <a:r>
              <a:rPr lang="en-US" sz="1200" b="1" spc="200" kern="0" dirty="0">
                <a:solidFill>
                  <a:srgbClr val="0E9F9A"/>
                </a:solidFill>
                <a:latin typeface="Calibri" pitchFamily="34" charset="0"/>
                <a:ea typeface="Calibri" pitchFamily="34" charset="-122"/>
                <a:cs typeface="Calibri" pitchFamily="34" charset="-120"/>
              </a:rPr>
              <a:t>WHAT IT CATCHES</a:t>
            </a:r>
            <a:endParaRPr lang="en-US" sz="1200" dirty="0"/>
          </a:p>
        </p:txBody>
      </p:sp>
      <p:sp>
        <p:nvSpPr>
          <p:cNvPr id="19" name="Shape 17"/>
          <p:cNvSpPr/>
          <p:nvPr/>
        </p:nvSpPr>
        <p:spPr>
          <a:xfrm>
            <a:off x="457200" y="2514600"/>
            <a:ext cx="1920240" cy="914400"/>
          </a:xfrm>
          <a:prstGeom prst="roundRect">
            <a:avLst>
              <a:gd name="adj" fmla="val 8000"/>
            </a:avLst>
          </a:prstGeom>
          <a:solidFill>
            <a:srgbClr val="EEF2F6"/>
          </a:solidFill>
          <a:ln w="12700">
            <a:solidFill>
              <a:srgbClr val="EEF2F6"/>
            </a:solidFill>
            <a:prstDash val="solid"/>
          </a:ln>
        </p:spPr>
      </p:sp>
      <p:sp>
        <p:nvSpPr>
          <p:cNvPr id="20" name="Shape 18"/>
          <p:cNvSpPr/>
          <p:nvPr/>
        </p:nvSpPr>
        <p:spPr>
          <a:xfrm>
            <a:off x="594360" y="2651760"/>
            <a:ext cx="310896" cy="310896"/>
          </a:xfrm>
          <a:prstGeom prst="ellipse">
            <a:avLst/>
          </a:prstGeom>
          <a:solidFill>
            <a:srgbClr val="0E9F9A"/>
          </a:solidFill>
          <a:ln w="12700">
            <a:solidFill>
              <a:srgbClr val="0E9F9A"/>
            </a:solidFill>
            <a:prstDash val="solid"/>
          </a:ln>
        </p:spPr>
      </p:sp>
      <p:sp>
        <p:nvSpPr>
          <p:cNvPr id="21" name="Text 19"/>
          <p:cNvSpPr txBox="1"/>
          <p:nvPr/>
        </p:nvSpPr>
        <p:spPr>
          <a:xfrm>
            <a:off x="594360" y="26517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2" name="Text 20"/>
          <p:cNvSpPr txBox="1"/>
          <p:nvPr/>
        </p:nvSpPr>
        <p:spPr>
          <a:xfrm>
            <a:off x="987552" y="2651760"/>
            <a:ext cx="1280160" cy="31089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Round-robin</a:t>
            </a:r>
            <a:endParaRPr lang="en-US" sz="1200" dirty="0"/>
          </a:p>
        </p:txBody>
      </p:sp>
      <p:sp>
        <p:nvSpPr>
          <p:cNvPr id="23" name="Text 21"/>
          <p:cNvSpPr txBox="1"/>
          <p:nvPr/>
        </p:nvSpPr>
        <p:spPr>
          <a:xfrm>
            <a:off x="594360" y="3017520"/>
            <a:ext cx="1645920" cy="3474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 task never gets its turn.</a:t>
            </a:r>
            <a:endParaRPr lang="en-US" sz="1100" dirty="0"/>
          </a:p>
        </p:txBody>
      </p:sp>
      <p:sp>
        <p:nvSpPr>
          <p:cNvPr id="24" name="Shape 22"/>
          <p:cNvSpPr/>
          <p:nvPr/>
        </p:nvSpPr>
        <p:spPr>
          <a:xfrm>
            <a:off x="2560320" y="2514600"/>
            <a:ext cx="1920240" cy="914400"/>
          </a:xfrm>
          <a:prstGeom prst="roundRect">
            <a:avLst>
              <a:gd name="adj" fmla="val 8000"/>
            </a:avLst>
          </a:prstGeom>
          <a:solidFill>
            <a:srgbClr val="EEF2F6"/>
          </a:solidFill>
          <a:ln w="12700">
            <a:solidFill>
              <a:srgbClr val="EEF2F6"/>
            </a:solidFill>
            <a:prstDash val="solid"/>
          </a:ln>
        </p:spPr>
      </p:sp>
      <p:sp>
        <p:nvSpPr>
          <p:cNvPr id="25" name="Shape 23"/>
          <p:cNvSpPr/>
          <p:nvPr/>
        </p:nvSpPr>
        <p:spPr>
          <a:xfrm>
            <a:off x="2697480" y="2651760"/>
            <a:ext cx="310896" cy="310896"/>
          </a:xfrm>
          <a:prstGeom prst="ellipse">
            <a:avLst/>
          </a:prstGeom>
          <a:solidFill>
            <a:srgbClr val="0E9F9A"/>
          </a:solidFill>
          <a:ln w="12700">
            <a:solidFill>
              <a:srgbClr val="0E9F9A"/>
            </a:solidFill>
            <a:prstDash val="solid"/>
          </a:ln>
        </p:spPr>
      </p:sp>
      <p:sp>
        <p:nvSpPr>
          <p:cNvPr id="26" name="Text 24"/>
          <p:cNvSpPr txBox="1"/>
          <p:nvPr/>
        </p:nvSpPr>
        <p:spPr>
          <a:xfrm>
            <a:off x="2697480" y="26517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7" name="Text 25"/>
          <p:cNvSpPr txBox="1"/>
          <p:nvPr/>
        </p:nvSpPr>
        <p:spPr>
          <a:xfrm>
            <a:off x="3090672" y="2651760"/>
            <a:ext cx="1280160" cy="31089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Starvation</a:t>
            </a:r>
            <a:endParaRPr lang="en-US" sz="1200" dirty="0"/>
          </a:p>
        </p:txBody>
      </p:sp>
      <p:sp>
        <p:nvSpPr>
          <p:cNvPr id="28" name="Text 26"/>
          <p:cNvSpPr txBox="1"/>
          <p:nvPr/>
        </p:nvSpPr>
        <p:spPr>
          <a:xfrm>
            <a:off x="2697480" y="3017520"/>
            <a:ext cx="1645920" cy="3474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 ready task waits too long.</a:t>
            </a:r>
            <a:endParaRPr lang="en-US" sz="1100" dirty="0"/>
          </a:p>
        </p:txBody>
      </p:sp>
      <p:sp>
        <p:nvSpPr>
          <p:cNvPr id="29" name="Shape 27"/>
          <p:cNvSpPr/>
          <p:nvPr/>
        </p:nvSpPr>
        <p:spPr>
          <a:xfrm>
            <a:off x="4663440" y="2514600"/>
            <a:ext cx="1920240" cy="914400"/>
          </a:xfrm>
          <a:prstGeom prst="roundRect">
            <a:avLst>
              <a:gd name="adj" fmla="val 8000"/>
            </a:avLst>
          </a:prstGeom>
          <a:solidFill>
            <a:srgbClr val="EEF2F6"/>
          </a:solidFill>
          <a:ln w="12700">
            <a:solidFill>
              <a:srgbClr val="EEF2F6"/>
            </a:solidFill>
            <a:prstDash val="solid"/>
          </a:ln>
        </p:spPr>
      </p:sp>
      <p:sp>
        <p:nvSpPr>
          <p:cNvPr id="30" name="Shape 28"/>
          <p:cNvSpPr/>
          <p:nvPr/>
        </p:nvSpPr>
        <p:spPr>
          <a:xfrm>
            <a:off x="4800600" y="2651760"/>
            <a:ext cx="310896" cy="310896"/>
          </a:xfrm>
          <a:prstGeom prst="ellipse">
            <a:avLst/>
          </a:prstGeom>
          <a:solidFill>
            <a:srgbClr val="0E9F9A"/>
          </a:solidFill>
          <a:ln w="12700">
            <a:solidFill>
              <a:srgbClr val="0E9F9A"/>
            </a:solidFill>
            <a:prstDash val="solid"/>
          </a:ln>
        </p:spPr>
      </p:sp>
      <p:sp>
        <p:nvSpPr>
          <p:cNvPr id="31" name="Text 29"/>
          <p:cNvSpPr txBox="1"/>
          <p:nvPr/>
        </p:nvSpPr>
        <p:spPr>
          <a:xfrm>
            <a:off x="4800600" y="26517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2" name="Text 30"/>
          <p:cNvSpPr txBox="1"/>
          <p:nvPr/>
        </p:nvSpPr>
        <p:spPr>
          <a:xfrm>
            <a:off x="5193792" y="2651760"/>
            <a:ext cx="1280160" cy="31089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Priority</a:t>
            </a:r>
            <a:endParaRPr lang="en-US" sz="1200" dirty="0"/>
          </a:p>
        </p:txBody>
      </p:sp>
      <p:sp>
        <p:nvSpPr>
          <p:cNvPr id="33" name="Text 31"/>
          <p:cNvSpPr txBox="1"/>
          <p:nvPr/>
        </p:nvSpPr>
        <p:spPr>
          <a:xfrm>
            <a:off x="4800600" y="3017520"/>
            <a:ext cx="1645920" cy="3474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Urgent work is not preempting.</a:t>
            </a:r>
            <a:endParaRPr lang="en-US" sz="1100" dirty="0"/>
          </a:p>
        </p:txBody>
      </p:sp>
      <p:sp>
        <p:nvSpPr>
          <p:cNvPr id="34" name="Shape 32"/>
          <p:cNvSpPr/>
          <p:nvPr/>
        </p:nvSpPr>
        <p:spPr>
          <a:xfrm>
            <a:off x="6766560" y="2514600"/>
            <a:ext cx="1920240" cy="914400"/>
          </a:xfrm>
          <a:prstGeom prst="roundRect">
            <a:avLst>
              <a:gd name="adj" fmla="val 8000"/>
            </a:avLst>
          </a:prstGeom>
          <a:solidFill>
            <a:srgbClr val="EEF2F6"/>
          </a:solidFill>
          <a:ln w="12700">
            <a:solidFill>
              <a:srgbClr val="EEF2F6"/>
            </a:solidFill>
            <a:prstDash val="solid"/>
          </a:ln>
        </p:spPr>
      </p:sp>
      <p:sp>
        <p:nvSpPr>
          <p:cNvPr id="35" name="Shape 33"/>
          <p:cNvSpPr/>
          <p:nvPr/>
        </p:nvSpPr>
        <p:spPr>
          <a:xfrm>
            <a:off x="6903720" y="2651760"/>
            <a:ext cx="310896" cy="310896"/>
          </a:xfrm>
          <a:prstGeom prst="ellipse">
            <a:avLst/>
          </a:prstGeom>
          <a:solidFill>
            <a:srgbClr val="0E9F9A"/>
          </a:solidFill>
          <a:ln w="12700">
            <a:solidFill>
              <a:srgbClr val="0E9F9A"/>
            </a:solidFill>
            <a:prstDash val="solid"/>
          </a:ln>
        </p:spPr>
      </p:sp>
      <p:sp>
        <p:nvSpPr>
          <p:cNvPr id="36" name="Text 34"/>
          <p:cNvSpPr txBox="1"/>
          <p:nvPr/>
        </p:nvSpPr>
        <p:spPr>
          <a:xfrm>
            <a:off x="6903720" y="26517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7" name="Text 35"/>
          <p:cNvSpPr txBox="1"/>
          <p:nvPr/>
        </p:nvSpPr>
        <p:spPr>
          <a:xfrm>
            <a:off x="7296912" y="2651760"/>
            <a:ext cx="1280160" cy="310896"/>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Affinity</a:t>
            </a:r>
            <a:endParaRPr lang="en-US" sz="1200" dirty="0"/>
          </a:p>
        </p:txBody>
      </p:sp>
      <p:sp>
        <p:nvSpPr>
          <p:cNvPr id="38" name="Text 36"/>
          <p:cNvSpPr txBox="1"/>
          <p:nvPr/>
        </p:nvSpPr>
        <p:spPr>
          <a:xfrm>
            <a:off x="6903720" y="3017520"/>
            <a:ext cx="1645920" cy="347472"/>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 task runs on the wrong CPU.</a:t>
            </a:r>
            <a:endParaRPr lang="en-US" sz="1100" dirty="0"/>
          </a:p>
        </p:txBody>
      </p:sp>
      <p:sp>
        <p:nvSpPr>
          <p:cNvPr id="39" name="Text 37"/>
          <p:cNvSpPr txBox="1"/>
          <p:nvPr/>
        </p:nvSpPr>
        <p:spPr>
          <a:xfrm>
            <a:off x="457200" y="3639312"/>
            <a:ext cx="4114800" cy="274320"/>
          </a:xfrm>
          <a:prstGeom prst="rect">
            <a:avLst/>
          </a:prstGeom>
          <a:noFill/>
          <a:ln/>
        </p:spPr>
        <p:txBody>
          <a:bodyPr wrap="square" lIns="0" tIns="0" rIns="0" bIns="0" rtlCol="0" anchor="ctr"/>
          <a:lstStyle/>
          <a:p>
            <a:pPr indent="0" marL="0">
              <a:buNone/>
            </a:pPr>
            <a:r>
              <a:rPr lang="en-US" sz="1200" b="1" spc="200" kern="0" dirty="0">
                <a:solidFill>
                  <a:srgbClr val="D1495B"/>
                </a:solidFill>
                <a:latin typeface="Calibri" pitchFamily="34" charset="0"/>
                <a:ea typeface="Calibri" pitchFamily="34" charset="-122"/>
                <a:cs typeface="Calibri" pitchFamily="34" charset="-120"/>
              </a:rPr>
              <a:t>IMPACT</a:t>
            </a:r>
            <a:endParaRPr lang="en-US" sz="1200" dirty="0"/>
          </a:p>
        </p:txBody>
      </p:sp>
      <p:sp>
        <p:nvSpPr>
          <p:cNvPr id="40" name="Text 38"/>
          <p:cNvSpPr txBox="1"/>
          <p:nvPr/>
        </p:nvSpPr>
        <p:spPr>
          <a:xfrm>
            <a:off x="457200" y="3931920"/>
            <a:ext cx="1920240" cy="50292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12</a:t>
            </a:r>
            <a:endParaRPr lang="en-US" sz="3000" dirty="0"/>
          </a:p>
        </p:txBody>
      </p:sp>
      <p:sp>
        <p:nvSpPr>
          <p:cNvPr id="41" name="Text 39"/>
          <p:cNvSpPr txBox="1"/>
          <p:nvPr/>
        </p:nvSpPr>
        <p:spPr>
          <a:xfrm>
            <a:off x="457200" y="4434840"/>
            <a:ext cx="192024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New scheduler checks</a:t>
            </a:r>
            <a:endParaRPr lang="en-US" sz="1100" dirty="0"/>
          </a:p>
        </p:txBody>
      </p:sp>
      <p:sp>
        <p:nvSpPr>
          <p:cNvPr id="42" name="Text 40"/>
          <p:cNvSpPr txBox="1"/>
          <p:nvPr/>
        </p:nvSpPr>
        <p:spPr>
          <a:xfrm>
            <a:off x="2560320" y="3931920"/>
            <a:ext cx="1920240" cy="50292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0</a:t>
            </a:r>
            <a:endParaRPr lang="en-US" sz="3000" dirty="0"/>
          </a:p>
        </p:txBody>
      </p:sp>
      <p:sp>
        <p:nvSpPr>
          <p:cNvPr id="43" name="Text 41"/>
          <p:cNvSpPr txBox="1"/>
          <p:nvPr/>
        </p:nvSpPr>
        <p:spPr>
          <a:xfrm>
            <a:off x="2560320" y="4434840"/>
            <a:ext cx="192024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Kernel code changes</a:t>
            </a:r>
            <a:endParaRPr lang="en-US" sz="1100" dirty="0"/>
          </a:p>
        </p:txBody>
      </p:sp>
      <p:sp>
        <p:nvSpPr>
          <p:cNvPr id="44" name="Text 42"/>
          <p:cNvSpPr txBox="1"/>
          <p:nvPr/>
        </p:nvSpPr>
        <p:spPr>
          <a:xfrm>
            <a:off x="4663440" y="3931920"/>
            <a:ext cx="1920240" cy="50292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4</a:t>
            </a:r>
            <a:endParaRPr lang="en-US" sz="3000" dirty="0"/>
          </a:p>
        </p:txBody>
      </p:sp>
      <p:sp>
        <p:nvSpPr>
          <p:cNvPr id="45" name="Text 43"/>
          <p:cNvSpPr txBox="1"/>
          <p:nvPr/>
        </p:nvSpPr>
        <p:spPr>
          <a:xfrm>
            <a:off x="4663440" y="4434840"/>
            <a:ext cx="192024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Hang/deadlock bug classes</a:t>
            </a:r>
            <a:endParaRPr lang="en-US" sz="1100" dirty="0"/>
          </a:p>
        </p:txBody>
      </p:sp>
      <p:sp>
        <p:nvSpPr>
          <p:cNvPr id="46" name="Text 44"/>
          <p:cNvSpPr txBox="1"/>
          <p:nvPr/>
        </p:nvSpPr>
        <p:spPr>
          <a:xfrm>
            <a:off x="6766560" y="3931920"/>
            <a:ext cx="1920240" cy="50292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Nightly</a:t>
            </a:r>
            <a:endParaRPr lang="en-US" sz="3000" dirty="0"/>
          </a:p>
        </p:txBody>
      </p:sp>
      <p:sp>
        <p:nvSpPr>
          <p:cNvPr id="47" name="Text 45"/>
          <p:cNvSpPr txBox="1"/>
          <p:nvPr/>
        </p:nvSpPr>
        <p:spPr>
          <a:xfrm>
            <a:off x="6766560" y="4434840"/>
            <a:ext cx="192024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Regression, opt-in config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2026-09-25T10:18:12Z</dcterms:created>
  <dcterms:modified xsi:type="dcterms:W3CDTF">2026-09-25T10:18:12Z</dcterms:modified>
</cp:coreProperties>
</file>